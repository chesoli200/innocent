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77" r:id="rId3"/>
    <p:sldId id="256" r:id="rId4"/>
    <p:sldId id="257" r:id="rId5"/>
    <p:sldId id="278" r:id="rId6"/>
    <p:sldId id="258" r:id="rId7"/>
    <p:sldId id="259" r:id="rId8"/>
    <p:sldId id="260" r:id="rId9"/>
    <p:sldId id="261" r:id="rId10"/>
    <p:sldId id="262" r:id="rId11"/>
    <p:sldId id="279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87ADA-5C3B-4FF9-9699-5F7B4770CABF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8A4BE-FF8E-4244-8CA8-73952B657B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74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419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106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346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845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750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748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347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882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indent="-283464">
              <a:lnSpc>
                <a:spcPts val="3000"/>
              </a:lnSpc>
              <a:spcBef>
                <a:spcPts val="600"/>
              </a:spcBef>
              <a:buClr>
                <a:srgbClr val="3891A7"/>
              </a:buClr>
              <a:buSzPct val="80000"/>
              <a:buFont typeface="Wingdings 2"/>
              <a:buNone/>
            </a:pPr>
            <a:endParaRPr lang="en-US" sz="3200">
              <a:solidFill>
                <a:prstClr val="black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60022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4808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55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4/22/2024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>
                <a:solidFill>
                  <a:srgbClr val="E7DEC9">
                    <a:shade val="50000"/>
                    <a:satMod val="200000"/>
                  </a:srgbClr>
                </a:solidFill>
              </a:rPr>
              <a:pPr/>
              <a:t>‹#›</a:t>
            </a:fld>
            <a:endParaRPr lang="en-US">
              <a:solidFill>
                <a:srgbClr val="E7DEC9">
                  <a:shade val="50000"/>
                  <a:satMod val="200000"/>
                </a:srgbClr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980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heart.org/" TargetMode="External"/><Relationship Id="rId2" Type="http://schemas.openxmlformats.org/officeDocument/2006/relationships/hyperlink" Target="http://www.jesip.org.uk/home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cpr.heart.org/AHAECC/CPRAndECC/UCM_473161_CPR-and-ECC.jsp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527047" y="3886200"/>
            <a:ext cx="5181600" cy="1600200"/>
          </a:xfrm>
        </p:spPr>
        <p:txBody>
          <a:bodyPr>
            <a:normAutofit fontScale="92500" lnSpcReduction="10000"/>
          </a:bodyPr>
          <a:lstStyle/>
          <a:p>
            <a:pPr marL="82296" indent="0">
              <a:buNone/>
            </a:pPr>
            <a:r>
              <a:rPr lang="en-US" i="1" dirty="0"/>
              <a:t>Mr. </a:t>
            </a:r>
            <a:r>
              <a:rPr lang="en-US" i="1" dirty="0" err="1"/>
              <a:t>Koros</a:t>
            </a:r>
            <a:r>
              <a:rPr lang="en-US" i="1" dirty="0"/>
              <a:t> E. K,</a:t>
            </a:r>
          </a:p>
          <a:p>
            <a:pPr marL="82296" indent="0">
              <a:buNone/>
            </a:pPr>
            <a:r>
              <a:rPr lang="en-US" i="1" dirty="0" err="1"/>
              <a:t>BSc.N</a:t>
            </a:r>
            <a:r>
              <a:rPr lang="en-US" i="1" dirty="0"/>
              <a:t>, </a:t>
            </a:r>
            <a:r>
              <a:rPr lang="en-US" i="1" dirty="0" err="1"/>
              <a:t>UoN</a:t>
            </a:r>
            <a:r>
              <a:rPr lang="en-US" i="1" dirty="0"/>
              <a:t>, RN, BLS, BTLS, ACLS,</a:t>
            </a:r>
          </a:p>
          <a:p>
            <a:pPr marL="82296" indent="0">
              <a:buNone/>
            </a:pPr>
            <a:r>
              <a:rPr lang="en-US" i="1" dirty="0"/>
              <a:t>Lecturer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7498080" cy="1143000"/>
          </a:xfrm>
        </p:spPr>
        <p:txBody>
          <a:bodyPr>
            <a:noAutofit/>
          </a:bodyPr>
          <a:lstStyle/>
          <a:p>
            <a:pPr algn="ctr"/>
            <a:r>
              <a:rPr lang="en-US" sz="9600" b="1" u="sng" dirty="0">
                <a:solidFill>
                  <a:srgbClr val="FF0000"/>
                </a:solidFill>
                <a:effectLst/>
              </a:rPr>
              <a:t>FIRST AID</a:t>
            </a:r>
          </a:p>
        </p:txBody>
      </p:sp>
      <p:pic>
        <p:nvPicPr>
          <p:cNvPr id="4" name="Picture 3" descr="C:\Users\Evans\Desktop\E.KO\1. INTRODUCTORY BLOCK\TRAUMA AND EMERGENCY\St. Andrews First Ai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3810000"/>
            <a:ext cx="2020081" cy="1572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:\Users\Evans\Desktop\E.KO\1. INTRODUCTORY BLOCK\TRAUMA AND EMERGENCY\Flag of the Red Cross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6294" y="381000"/>
            <a:ext cx="1592353" cy="106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:\Users\Evans\Desktop\E.KO\1. INTRODUCTORY BLOCK\TRAUMA AND EMERGENCY\St. John's Ambulanc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104" y="381000"/>
            <a:ext cx="1033896" cy="1033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115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First aid</a:t>
            </a:r>
            <a:r>
              <a:rPr lang="en-US" b="1" dirty="0"/>
              <a:t> </a:t>
            </a:r>
            <a:r>
              <a:rPr lang="en-US" dirty="0"/>
              <a:t>is the initial assistant or treatment given to someone who has been hurt or suddenly fallen sick in case of an emergency, sudden illness or accident.</a:t>
            </a:r>
          </a:p>
          <a:p>
            <a:r>
              <a:rPr lang="en-US" b="1" u="sng" dirty="0"/>
              <a:t>First aider</a:t>
            </a:r>
            <a:r>
              <a:rPr lang="en-US" dirty="0"/>
              <a:t> is anyone who takes charge of an emergency scene and gives first aid, taking care to keep everyone involved safe and cause no further harm while doing so.</a:t>
            </a:r>
          </a:p>
          <a:p>
            <a:r>
              <a:rPr lang="en-US" b="1" u="sng" dirty="0"/>
              <a:t>Life saver</a:t>
            </a:r>
            <a:r>
              <a:rPr lang="en-US" dirty="0"/>
              <a:t> is anyone who can give first aid</a:t>
            </a:r>
          </a:p>
          <a:p>
            <a:r>
              <a:rPr lang="en-US" b="1" u="sng" dirty="0"/>
              <a:t>Casualty</a:t>
            </a:r>
            <a:r>
              <a:rPr lang="en-US" dirty="0"/>
              <a:t> is a victim involved in an accident or suddenly fallen ill.</a:t>
            </a:r>
          </a:p>
          <a:p>
            <a:r>
              <a:rPr lang="en-US" dirty="0"/>
              <a:t>A </a:t>
            </a:r>
            <a:r>
              <a:rPr lang="en-US" b="1" u="sng" dirty="0"/>
              <a:t>bystander(s)</a:t>
            </a:r>
            <a:r>
              <a:rPr lang="en-US" dirty="0"/>
              <a:t> is a person(s) who rush to an emergency scene to stare, ask questions, pickpocket, assist etc.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400288" cy="944562"/>
          </a:xfrm>
        </p:spPr>
        <p:txBody>
          <a:bodyPr>
            <a:normAutofit/>
          </a:bodyPr>
          <a:lstStyle/>
          <a:p>
            <a:pPr algn="ctr"/>
            <a:r>
              <a:rPr lang="en-US" sz="4400" b="1" u="sng" dirty="0">
                <a:effectLst/>
              </a:rPr>
              <a:t>Definitions</a:t>
            </a:r>
          </a:p>
        </p:txBody>
      </p:sp>
    </p:spTree>
    <p:extLst>
      <p:ext uri="{BB962C8B-B14F-4D97-AF65-F5344CB8AC3E}">
        <p14:creationId xmlns:p14="http://schemas.microsoft.com/office/powerpoint/2010/main" val="106041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304800"/>
            <a:ext cx="8839200" cy="4495800"/>
          </a:xfrm>
        </p:spPr>
        <p:txBody>
          <a:bodyPr>
            <a:normAutofit/>
          </a:bodyPr>
          <a:lstStyle/>
          <a:p>
            <a:pPr marL="82296" indent="0" algn="ctr">
              <a:buClrTx/>
              <a:buNone/>
            </a:pPr>
            <a:r>
              <a:rPr lang="en-US" sz="3500" b="1" u="sng" dirty="0"/>
              <a:t>Priorities (Aims) of First Aid (3Ps)</a:t>
            </a:r>
            <a:endParaRPr lang="en-US" sz="3500" dirty="0"/>
          </a:p>
          <a:p>
            <a:pPr marL="870966" lvl="1" indent="-514350">
              <a:buClrTx/>
              <a:buFont typeface="+mj-lt"/>
              <a:buAutoNum type="arabicPeriod"/>
            </a:pPr>
            <a:r>
              <a:rPr lang="en-US" sz="3200" dirty="0"/>
              <a:t>Preserve/save life (by minimizing threat of death)</a:t>
            </a:r>
          </a:p>
          <a:p>
            <a:pPr marL="870966" lvl="1" indent="-514350">
              <a:buClrTx/>
              <a:buFont typeface="+mj-lt"/>
              <a:buAutoNum type="arabicPeriod"/>
            </a:pPr>
            <a:r>
              <a:rPr lang="en-US" sz="3200" dirty="0"/>
              <a:t>Prevent further harm (stop condition from worsening)</a:t>
            </a:r>
          </a:p>
          <a:p>
            <a:pPr marL="870966" lvl="1" indent="-514350">
              <a:buClrTx/>
              <a:buFont typeface="+mj-lt"/>
              <a:buAutoNum type="arabicPeriod"/>
            </a:pPr>
            <a:r>
              <a:rPr lang="en-US" sz="3200" dirty="0"/>
              <a:t>Promote quick recovery and relieve pain.</a:t>
            </a:r>
          </a:p>
        </p:txBody>
      </p:sp>
    </p:spTree>
    <p:extLst>
      <p:ext uri="{BB962C8B-B14F-4D97-AF65-F5344CB8AC3E}">
        <p14:creationId xmlns:p14="http://schemas.microsoft.com/office/powerpoint/2010/main" val="17838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09600"/>
            <a:ext cx="8839200" cy="5867400"/>
          </a:xfrm>
        </p:spPr>
        <p:txBody>
          <a:bodyPr>
            <a:normAutofit fontScale="92500" lnSpcReduction="20000"/>
          </a:bodyPr>
          <a:lstStyle/>
          <a:p>
            <a:pPr marL="82296" indent="0" algn="ctr">
              <a:buNone/>
            </a:pPr>
            <a:r>
              <a:rPr lang="en-US" sz="3500" b="1" u="sng" dirty="0"/>
              <a:t>Principles/Objectives of First Aid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b="1" dirty="0">
                <a:solidFill>
                  <a:srgbClr val="FF0000"/>
                </a:solidFill>
              </a:rPr>
              <a:t>Assess the situation </a:t>
            </a:r>
            <a:r>
              <a:rPr lang="en-US" sz="3000" dirty="0"/>
              <a:t>quickly and calmly for </a:t>
            </a:r>
            <a:r>
              <a:rPr lang="en-US" sz="3000" b="1" u="sng" dirty="0"/>
              <a:t>safety</a:t>
            </a:r>
            <a:r>
              <a:rPr lang="en-US" sz="3000" dirty="0"/>
              <a:t>.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b="1" dirty="0"/>
              <a:t>Protect your self</a:t>
            </a:r>
            <a:r>
              <a:rPr lang="en-US" sz="3000" dirty="0"/>
              <a:t>, casualties and bystanders from danger.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b="1" dirty="0"/>
              <a:t>Give early treatment </a:t>
            </a:r>
            <a:r>
              <a:rPr lang="en-US" sz="3000" dirty="0"/>
              <a:t>by starting first with the casualty who presents with the most life threatening condition (triage) e.g. cessation of breathing, </a:t>
            </a:r>
            <a:r>
              <a:rPr lang="en-US" sz="3000" dirty="0" err="1"/>
              <a:t>haemorrhage</a:t>
            </a:r>
            <a:r>
              <a:rPr lang="en-US" sz="3000" dirty="0"/>
              <a:t>, shock.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b="1" dirty="0"/>
              <a:t>Prevent cross infection</a:t>
            </a:r>
            <a:r>
              <a:rPr lang="en-US" sz="3000" dirty="0"/>
              <a:t> by washing hands and wearing PPEs e.g. disposable gloves, face masks, apron, 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b="1" dirty="0"/>
              <a:t>Comfort and reassurance </a:t>
            </a:r>
            <a:r>
              <a:rPr lang="en-US" sz="3000" dirty="0"/>
              <a:t>of casualties at all times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b="1" dirty="0"/>
              <a:t>Assess the casualty’s</a:t>
            </a:r>
            <a:r>
              <a:rPr lang="en-US" sz="3000" dirty="0"/>
              <a:t> nature of illness or extent of injury</a:t>
            </a:r>
          </a:p>
          <a:p>
            <a:pPr lvl="1">
              <a:buFont typeface="Wingdings" pitchFamily="2" charset="2"/>
              <a:buChar char="§"/>
            </a:pPr>
            <a:r>
              <a:rPr lang="en-US" sz="3000" b="1" dirty="0"/>
              <a:t>Arrange for appropriate help</a:t>
            </a:r>
            <a:r>
              <a:rPr lang="en-US" sz="3000" dirty="0"/>
              <a:t> e.g. call emergency line; 999, ambulance etc. if you suspect serious injury.</a:t>
            </a:r>
          </a:p>
        </p:txBody>
      </p:sp>
    </p:spTree>
    <p:extLst>
      <p:ext uri="{BB962C8B-B14F-4D97-AF65-F5344CB8AC3E}">
        <p14:creationId xmlns:p14="http://schemas.microsoft.com/office/powerpoint/2010/main" val="54175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381000"/>
            <a:ext cx="8839200" cy="6324600"/>
          </a:xfrm>
        </p:spPr>
        <p:txBody>
          <a:bodyPr/>
          <a:lstStyle/>
          <a:p>
            <a:pPr marL="356616" lvl="1" indent="0">
              <a:buNone/>
            </a:pPr>
            <a:r>
              <a:rPr lang="en-US" sz="3200" b="1" u="sng" dirty="0"/>
              <a:t>Personalities in a First Aid Scene </a:t>
            </a:r>
          </a:p>
          <a:p>
            <a:pPr marL="1117854" lvl="2" indent="-514350">
              <a:buClrTx/>
              <a:buFont typeface="+mj-lt"/>
              <a:buAutoNum type="alphaLcParenR"/>
            </a:pPr>
            <a:r>
              <a:rPr lang="en-US" sz="2800" dirty="0"/>
              <a:t>First Aider(s)</a:t>
            </a:r>
          </a:p>
          <a:p>
            <a:pPr marL="1117854" lvl="2" indent="-514350">
              <a:buClrTx/>
              <a:buFont typeface="+mj-lt"/>
              <a:buAutoNum type="alphaLcParenR"/>
            </a:pPr>
            <a:r>
              <a:rPr lang="en-US" sz="2800" dirty="0"/>
              <a:t>Bystander(s)</a:t>
            </a:r>
          </a:p>
          <a:p>
            <a:pPr marL="1117854" lvl="2" indent="-514350">
              <a:buClrTx/>
              <a:buFont typeface="+mj-lt"/>
              <a:buAutoNum type="alphaLcParenR"/>
            </a:pPr>
            <a:r>
              <a:rPr lang="en-US" sz="2800" dirty="0"/>
              <a:t>Casualty (casualties)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22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flip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90688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effectLst/>
              </a:rPr>
              <a:t>Responsibilities of First Aiders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839200" cy="5638800"/>
          </a:xfrm>
        </p:spPr>
        <p:txBody>
          <a:bodyPr>
            <a:normAutofit lnSpcReduction="10000"/>
          </a:bodyPr>
          <a:lstStyle/>
          <a:p>
            <a:pPr marL="596646" indent="-514350">
              <a:buClrTx/>
              <a:buFont typeface="+mj-lt"/>
              <a:buAutoNum type="arabicPeriod"/>
            </a:pPr>
            <a:r>
              <a:rPr lang="en-US" dirty="0"/>
              <a:t>Quick </a:t>
            </a:r>
            <a:r>
              <a:rPr lang="en-US" u="sng" dirty="0"/>
              <a:t>assessment</a:t>
            </a:r>
            <a:r>
              <a:rPr lang="en-US" dirty="0"/>
              <a:t> of situations</a:t>
            </a:r>
          </a:p>
          <a:p>
            <a:pPr marL="596646" indent="-514350">
              <a:buClrTx/>
              <a:buFont typeface="+mj-lt"/>
              <a:buAutoNum type="arabicPeriod"/>
            </a:pPr>
            <a:r>
              <a:rPr lang="en-US" u="sng" dirty="0"/>
              <a:t>Protection</a:t>
            </a:r>
            <a:r>
              <a:rPr lang="en-US" dirty="0"/>
              <a:t> of self, casualties and bystanders from possible danger</a:t>
            </a:r>
          </a:p>
          <a:p>
            <a:pPr marL="596646" indent="-514350">
              <a:buClrTx/>
              <a:buFont typeface="+mj-lt"/>
              <a:buAutoNum type="arabicPeriod"/>
            </a:pPr>
            <a:r>
              <a:rPr lang="en-US" u="sng" dirty="0"/>
              <a:t>Identification</a:t>
            </a:r>
            <a:r>
              <a:rPr lang="en-US" dirty="0"/>
              <a:t> of casualties’ problem(s)</a:t>
            </a:r>
          </a:p>
          <a:p>
            <a:pPr marL="596646" indent="-514350">
              <a:buClrTx/>
              <a:buFont typeface="+mj-lt"/>
              <a:buAutoNum type="arabicPeriod"/>
            </a:pPr>
            <a:r>
              <a:rPr lang="en-US" dirty="0"/>
              <a:t>Giving casualties </a:t>
            </a:r>
            <a:r>
              <a:rPr lang="en-US" u="sng" dirty="0"/>
              <a:t>early and appropriate treatment</a:t>
            </a:r>
            <a:r>
              <a:rPr lang="en-US" dirty="0"/>
              <a:t> based on priority</a:t>
            </a:r>
          </a:p>
          <a:p>
            <a:pPr marL="596646" indent="-514350">
              <a:buClrTx/>
              <a:buFont typeface="+mj-lt"/>
              <a:buAutoNum type="arabicPeriod"/>
            </a:pPr>
            <a:r>
              <a:rPr lang="en-US" u="sng" dirty="0"/>
              <a:t>Prevention</a:t>
            </a:r>
            <a:r>
              <a:rPr lang="en-US" dirty="0"/>
              <a:t> of cross infection</a:t>
            </a:r>
          </a:p>
          <a:p>
            <a:pPr marL="596646" indent="-514350">
              <a:buClrTx/>
              <a:buFont typeface="+mj-lt"/>
              <a:buAutoNum type="arabicPeriod"/>
            </a:pPr>
            <a:r>
              <a:rPr lang="en-US" u="sng" dirty="0"/>
              <a:t>Seeking for emergency help</a:t>
            </a:r>
            <a:r>
              <a:rPr lang="en-US" dirty="0"/>
              <a:t> e.g. by calling an emergency line, looking for transport etc.</a:t>
            </a:r>
            <a:endParaRPr lang="en-US" u="sng" dirty="0"/>
          </a:p>
          <a:p>
            <a:pPr marL="596646" indent="-514350">
              <a:buClrTx/>
              <a:buFont typeface="+mj-lt"/>
              <a:buAutoNum type="arabicPeriod"/>
            </a:pPr>
            <a:r>
              <a:rPr lang="en-US" u="sng" dirty="0"/>
              <a:t>Handing over</a:t>
            </a:r>
            <a:r>
              <a:rPr lang="en-US" dirty="0"/>
              <a:t> the casualties for further medical care</a:t>
            </a:r>
          </a:p>
          <a:p>
            <a:pPr marL="82296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8411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effectLst/>
              </a:rPr>
              <a:t>Role of Bystanders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400288" cy="5715000"/>
          </a:xfrm>
        </p:spPr>
        <p:txBody>
          <a:bodyPr/>
          <a:lstStyle/>
          <a:p>
            <a:pPr marL="653796" indent="-571500">
              <a:buClrTx/>
              <a:buFont typeface="+mj-lt"/>
              <a:buAutoNum type="romanLcPeriod"/>
            </a:pPr>
            <a:r>
              <a:rPr lang="en-US" dirty="0"/>
              <a:t>Make area safe</a:t>
            </a:r>
          </a:p>
          <a:p>
            <a:pPr marL="653796" indent="-571500">
              <a:buClrTx/>
              <a:buFont typeface="+mj-lt"/>
              <a:buAutoNum type="romanLcPeriod"/>
            </a:pPr>
            <a:r>
              <a:rPr lang="en-US" dirty="0"/>
              <a:t>Go for help e.g. calling emergency team</a:t>
            </a:r>
          </a:p>
          <a:p>
            <a:pPr marL="653796" indent="-571500">
              <a:buClrTx/>
              <a:buFont typeface="+mj-lt"/>
              <a:buAutoNum type="romanLcPeriod"/>
            </a:pPr>
            <a:r>
              <a:rPr lang="en-US" dirty="0"/>
              <a:t>Fetch first aid equipment</a:t>
            </a:r>
          </a:p>
          <a:p>
            <a:pPr marL="653796" indent="-571500">
              <a:buClrTx/>
              <a:buFont typeface="+mj-lt"/>
              <a:buAutoNum type="romanLcPeriod"/>
            </a:pPr>
            <a:r>
              <a:rPr lang="en-US" dirty="0"/>
              <a:t>Control traffic and other obstacles</a:t>
            </a:r>
          </a:p>
          <a:p>
            <a:pPr marL="653796" indent="-571500">
              <a:buClrTx/>
              <a:buFont typeface="+mj-lt"/>
              <a:buAutoNum type="romanLcPeriod"/>
            </a:pPr>
            <a:r>
              <a:rPr lang="en-US" dirty="0"/>
              <a:t>Screen casualties for privacy</a:t>
            </a:r>
          </a:p>
          <a:p>
            <a:pPr marL="653796" indent="-571500">
              <a:buClrTx/>
              <a:buFont typeface="+mj-lt"/>
              <a:buAutoNum type="romanLcPeriod"/>
            </a:pPr>
            <a:r>
              <a:rPr lang="en-US" dirty="0"/>
              <a:t>Help aider control bleeding e.g. applying pressure on an actively bleeding wound</a:t>
            </a:r>
          </a:p>
          <a:p>
            <a:pPr marL="653796" indent="-571500">
              <a:buClrTx/>
              <a:buFont typeface="+mj-lt"/>
              <a:buAutoNum type="romanLcPeriod"/>
            </a:pPr>
            <a:r>
              <a:rPr lang="en-US" dirty="0"/>
              <a:t>Move or transport casualty</a:t>
            </a:r>
          </a:p>
        </p:txBody>
      </p:sp>
    </p:spTree>
    <p:extLst>
      <p:ext uri="{BB962C8B-B14F-4D97-AF65-F5344CB8AC3E}">
        <p14:creationId xmlns:p14="http://schemas.microsoft.com/office/powerpoint/2010/main" val="483961407"/>
      </p:ext>
    </p:extLst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6934200" cy="715962"/>
          </a:xfrm>
        </p:spPr>
        <p:txBody>
          <a:bodyPr>
            <a:normAutofit/>
          </a:bodyPr>
          <a:lstStyle/>
          <a:p>
            <a:pPr algn="ctr"/>
            <a:r>
              <a:rPr lang="en-US" sz="3600" b="1" u="sng" dirty="0">
                <a:effectLst/>
              </a:rPr>
              <a:t>Contents of a First Aid 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3657600" cy="502227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Gloves</a:t>
            </a:r>
          </a:p>
          <a:p>
            <a:r>
              <a:rPr lang="en-US" dirty="0"/>
              <a:t>Cotton wool</a:t>
            </a:r>
          </a:p>
          <a:p>
            <a:r>
              <a:rPr lang="en-US" dirty="0"/>
              <a:t>Dressing</a:t>
            </a:r>
          </a:p>
          <a:p>
            <a:r>
              <a:rPr lang="en-US" dirty="0"/>
              <a:t>Surgical blade </a:t>
            </a:r>
          </a:p>
          <a:p>
            <a:r>
              <a:rPr lang="en-US" dirty="0"/>
              <a:t>Scissors</a:t>
            </a:r>
          </a:p>
          <a:p>
            <a:r>
              <a:rPr lang="en-US" dirty="0"/>
              <a:t>Thermometer</a:t>
            </a:r>
          </a:p>
          <a:p>
            <a:r>
              <a:rPr lang="en-US" dirty="0"/>
              <a:t>Antiseptic lotion</a:t>
            </a:r>
          </a:p>
          <a:p>
            <a:r>
              <a:rPr lang="en-US" dirty="0"/>
              <a:t>Antihistamines</a:t>
            </a:r>
          </a:p>
          <a:p>
            <a:r>
              <a:rPr lang="en-US" dirty="0"/>
              <a:t>Safety pins</a:t>
            </a:r>
          </a:p>
          <a:p>
            <a:r>
              <a:rPr lang="en-US" dirty="0"/>
              <a:t>Strapping tapes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343400" y="1136073"/>
            <a:ext cx="4343400" cy="52578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>
              <a:buClr>
                <a:srgbClr val="3891A7"/>
              </a:buClr>
            </a:pPr>
            <a:r>
              <a:rPr lang="en-US" dirty="0">
                <a:solidFill>
                  <a:prstClr val="black"/>
                </a:solidFill>
              </a:rPr>
              <a:t>Elastoplast</a:t>
            </a:r>
          </a:p>
          <a:p>
            <a:pPr>
              <a:buClr>
                <a:srgbClr val="3891A7"/>
              </a:buClr>
            </a:pPr>
            <a:r>
              <a:rPr lang="en-US" dirty="0">
                <a:solidFill>
                  <a:prstClr val="black"/>
                </a:solidFill>
              </a:rPr>
              <a:t>Fire blanket</a:t>
            </a:r>
          </a:p>
          <a:p>
            <a:pPr>
              <a:buClr>
                <a:srgbClr val="3891A7"/>
              </a:buClr>
            </a:pPr>
            <a:r>
              <a:rPr lang="en-US" dirty="0">
                <a:solidFill>
                  <a:prstClr val="black"/>
                </a:solidFill>
              </a:rPr>
              <a:t>Painkillers (analgesics)</a:t>
            </a:r>
          </a:p>
          <a:p>
            <a:pPr>
              <a:buClr>
                <a:srgbClr val="3891A7"/>
              </a:buClr>
            </a:pPr>
            <a:r>
              <a:rPr lang="en-US" dirty="0">
                <a:solidFill>
                  <a:prstClr val="black"/>
                </a:solidFill>
              </a:rPr>
              <a:t>Notebook and pens</a:t>
            </a:r>
          </a:p>
          <a:p>
            <a:pPr>
              <a:buClr>
                <a:srgbClr val="3891A7"/>
              </a:buClr>
            </a:pPr>
            <a:r>
              <a:rPr lang="en-US" dirty="0">
                <a:solidFill>
                  <a:prstClr val="black"/>
                </a:solidFill>
              </a:rPr>
              <a:t>Survival bag</a:t>
            </a:r>
          </a:p>
          <a:p>
            <a:pPr>
              <a:buClr>
                <a:srgbClr val="3891A7"/>
              </a:buClr>
            </a:pPr>
            <a:r>
              <a:rPr lang="en-US" dirty="0">
                <a:solidFill>
                  <a:prstClr val="black"/>
                </a:solidFill>
              </a:rPr>
              <a:t>Kidney trays</a:t>
            </a:r>
          </a:p>
          <a:p>
            <a:pPr>
              <a:buClr>
                <a:srgbClr val="3891A7"/>
              </a:buClr>
            </a:pPr>
            <a:r>
              <a:rPr lang="en-US" dirty="0">
                <a:solidFill>
                  <a:prstClr val="black"/>
                </a:solidFill>
              </a:rPr>
              <a:t>Bandages</a:t>
            </a:r>
          </a:p>
          <a:p>
            <a:pPr>
              <a:buClr>
                <a:srgbClr val="3891A7"/>
              </a:buClr>
            </a:pPr>
            <a:r>
              <a:rPr lang="en-US" dirty="0">
                <a:solidFill>
                  <a:prstClr val="black"/>
                </a:solidFill>
              </a:rPr>
              <a:t>Tweezers</a:t>
            </a:r>
          </a:p>
        </p:txBody>
      </p:sp>
    </p:spTree>
    <p:extLst>
      <p:ext uri="{BB962C8B-B14F-4D97-AF65-F5344CB8AC3E}">
        <p14:creationId xmlns:p14="http://schemas.microsoft.com/office/powerpoint/2010/main" val="51077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639762"/>
          </a:xfrm>
        </p:spPr>
        <p:txBody>
          <a:bodyPr>
            <a:noAutofit/>
          </a:bodyPr>
          <a:lstStyle/>
          <a:p>
            <a:pPr algn="ctr"/>
            <a:r>
              <a:rPr lang="en-US" sz="2800" b="1" u="sng" dirty="0">
                <a:effectLst/>
              </a:rPr>
              <a:t>Key Steps to becoming an Effective First Aider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5791200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§"/>
            </a:pPr>
            <a:r>
              <a:rPr lang="en-US" b="1" dirty="0"/>
              <a:t>Be calm and able to command </a:t>
            </a:r>
            <a:r>
              <a:rPr lang="en-US" dirty="0"/>
              <a:t>in your approach; control your emotions and reactions by avoiding anxiety </a:t>
            </a:r>
            <a:r>
              <a:rPr lang="en-US" i="1" dirty="0"/>
              <a:t>(‘fight, flight or freeze response’ </a:t>
            </a:r>
            <a:r>
              <a:rPr lang="en-US" dirty="0"/>
              <a:t>of catecholamine</a:t>
            </a:r>
            <a:r>
              <a:rPr lang="en-US" i="1" dirty="0"/>
              <a:t>) </a:t>
            </a:r>
            <a:r>
              <a:rPr lang="en-US" dirty="0"/>
              <a:t>and so help the casualty.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/>
              <a:t>Be aware of the risks</a:t>
            </a:r>
            <a:r>
              <a:rPr lang="en-US" dirty="0"/>
              <a:t> to yourself and others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/>
              <a:t>Build and maintain trust</a:t>
            </a:r>
            <a:r>
              <a:rPr lang="en-US" dirty="0"/>
              <a:t> from the casualty and the bystanders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/>
              <a:t>Give early treatment</a:t>
            </a:r>
            <a:r>
              <a:rPr lang="en-US" dirty="0"/>
              <a:t>, treating the most serious (life threatening) conditions first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/>
              <a:t>Call appropriate help</a:t>
            </a:r>
          </a:p>
          <a:p>
            <a:pPr lvl="1">
              <a:buFont typeface="Wingdings" pitchFamily="2" charset="2"/>
              <a:buChar char="§"/>
            </a:pPr>
            <a:r>
              <a:rPr lang="en-US" b="1" dirty="0"/>
              <a:t>Remember your own needs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/>
              <a:t>Avoid a lot of talking, don’t be shy or reluctant </a:t>
            </a:r>
          </a:p>
        </p:txBody>
      </p:sp>
    </p:spTree>
    <p:extLst>
      <p:ext uri="{BB962C8B-B14F-4D97-AF65-F5344CB8AC3E}">
        <p14:creationId xmlns:p14="http://schemas.microsoft.com/office/powerpoint/2010/main" val="114318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effectLst/>
              </a:rPr>
              <a:t>REFERENCES</a:t>
            </a:r>
            <a:endParaRPr lang="en-US" u="sng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839200" cy="57150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Association of Ambulance Chief Executives (2016). </a:t>
            </a:r>
            <a:r>
              <a:rPr lang="en-US" sz="2400" i="1" dirty="0"/>
              <a:t>UK Ambulance Services Clinical Practice Guidelines</a:t>
            </a:r>
            <a:r>
              <a:rPr lang="en-US" sz="2400" dirty="0"/>
              <a:t>. Class Professional Publishing.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Basic Life Support </a:t>
            </a:r>
            <a:r>
              <a:rPr lang="en-US" sz="2400" b="1" i="1" dirty="0"/>
              <a:t>(BLS) for Healthcare Providers</a:t>
            </a:r>
            <a:r>
              <a:rPr lang="en-US" sz="2400" dirty="0"/>
              <a:t> (2015).Students Manual.  American Heart Association, USA.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Howard A. </a:t>
            </a:r>
            <a:r>
              <a:rPr lang="en-US" sz="2400" dirty="0" err="1"/>
              <a:t>Werman</a:t>
            </a:r>
            <a:r>
              <a:rPr lang="en-US" sz="2400" dirty="0"/>
              <a:t> et al. Annals of Trauma Life Support, Elsevier, London, UK.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Joint Emergency Services Interoperability Principles (JESIP)</a:t>
            </a:r>
            <a:r>
              <a:rPr lang="en-US" sz="2400" b="1" i="1" dirty="0"/>
              <a:t>;Working together, Saving lives</a:t>
            </a:r>
            <a:r>
              <a:rPr lang="en-US" sz="2400" dirty="0"/>
              <a:t>;  website: </a:t>
            </a:r>
            <a:r>
              <a:rPr lang="en-US" sz="2400" dirty="0">
                <a:hlinkClick r:id="rId2"/>
              </a:rPr>
              <a:t>www.jesip.org.uk/home</a:t>
            </a:r>
            <a:r>
              <a:rPr lang="en-US" sz="2400" dirty="0"/>
              <a:t> (2015)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St. John Ambulance, St. Andrew’s First Aid, British Red Cross Society, (2011). </a:t>
            </a:r>
            <a:r>
              <a:rPr lang="en-US" sz="2400" b="1" i="1" dirty="0"/>
              <a:t>First Aid Manual</a:t>
            </a:r>
            <a:r>
              <a:rPr lang="en-US" sz="2400" dirty="0"/>
              <a:t>, 9</a:t>
            </a:r>
            <a:r>
              <a:rPr lang="en-US" sz="2400" baseline="30000" dirty="0"/>
              <a:t>th</a:t>
            </a:r>
            <a:r>
              <a:rPr lang="en-US" sz="2400" dirty="0"/>
              <a:t> ed. London, UK.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>
                <a:hlinkClick r:id="rId3"/>
              </a:rPr>
              <a:t>www.heart.org</a:t>
            </a:r>
            <a:r>
              <a:rPr lang="en-US" sz="2400" dirty="0"/>
              <a:t>, onlineAHA.org, </a:t>
            </a:r>
            <a:r>
              <a:rPr lang="en-US" sz="2400" dirty="0">
                <a:hlinkClick r:id="rId4"/>
              </a:rPr>
              <a:t>https://cpr.heart.org/AHAECC/CPRAndECC/UCM_473161_CPR-and-ECC.jsp</a:t>
            </a:r>
            <a:endParaRPr lang="en-US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8430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540708"/>
              </p:ext>
            </p:extLst>
          </p:nvPr>
        </p:nvGraphicFramePr>
        <p:xfrm>
          <a:off x="3352800" y="1911266"/>
          <a:ext cx="1828800" cy="3627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1296063" imgH="3934305" progId="MS_ClipArt_Gallery.2">
                  <p:embed/>
                </p:oleObj>
              </mc:Choice>
              <mc:Fallback>
                <p:oleObj name="Clip" r:id="rId3" imgW="1296063" imgH="3934305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1911266"/>
                        <a:ext cx="1828800" cy="36275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"/>
          <p:cNvSpPr txBox="1">
            <a:spLocks noChangeArrowheads="1"/>
          </p:cNvSpPr>
          <p:nvPr/>
        </p:nvSpPr>
        <p:spPr>
          <a:xfrm>
            <a:off x="304800" y="304800"/>
            <a:ext cx="83058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sz="3600" b="1" dirty="0">
                <a:latin typeface="+mj-lt"/>
                <a:cs typeface="Times New Roman" pitchFamily="1" charset="0"/>
              </a:rPr>
              <a:t>THIS IS THE END FOR NOW…</a:t>
            </a:r>
            <a:endParaRPr lang="en-US" sz="3600" b="1" dirty="0">
              <a:latin typeface="+mj-lt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sz="4000" b="1" dirty="0">
                <a:latin typeface="+mj-lt"/>
              </a:rPr>
              <a:t>     HOPE YOU ENJOYED IT !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2382982" y="5791200"/>
            <a:ext cx="4537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4000" b="1" dirty="0">
                <a:solidFill>
                  <a:srgbClr val="00B050"/>
                </a:solidFill>
                <a:latin typeface="+mj-lt"/>
              </a:rPr>
              <a:t>THANK YOU ! ! !</a:t>
            </a:r>
          </a:p>
        </p:txBody>
      </p:sp>
    </p:spTree>
    <p:extLst>
      <p:ext uri="{BB962C8B-B14F-4D97-AF65-F5344CB8AC3E}">
        <p14:creationId xmlns:p14="http://schemas.microsoft.com/office/powerpoint/2010/main" val="319877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"/>
                            </p:stCondLst>
                            <p:childTnLst>
                              <p:par>
                                <p:cTn id="2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utoUpdateAnimBg="0"/>
    </p:bld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722</Words>
  <Application>Microsoft Office PowerPoint</Application>
  <PresentationFormat>On-screen Show (4:3)</PresentationFormat>
  <Paragraphs>79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Gill Sans MT</vt:lpstr>
      <vt:lpstr>Verdana</vt:lpstr>
      <vt:lpstr>Wingdings</vt:lpstr>
      <vt:lpstr>Wingdings 2</vt:lpstr>
      <vt:lpstr>Office Theme</vt:lpstr>
      <vt:lpstr>Solstice</vt:lpstr>
      <vt:lpstr>Clip</vt:lpstr>
      <vt:lpstr>FIRST AID</vt:lpstr>
      <vt:lpstr>Definitions</vt:lpstr>
      <vt:lpstr>PowerPoint Presentation</vt:lpstr>
      <vt:lpstr>PowerPoint Presentation</vt:lpstr>
      <vt:lpstr>PowerPoint Presentation</vt:lpstr>
      <vt:lpstr>Responsibilities of First Aiders</vt:lpstr>
      <vt:lpstr>Role of Bystanders</vt:lpstr>
      <vt:lpstr>Contents of a First Aid Kit</vt:lpstr>
      <vt:lpstr>Key Steps to becoming an Effective First Aider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AID</dc:title>
  <dc:creator>Evans</dc:creator>
  <cp:lastModifiedBy>Evans Kimutai</cp:lastModifiedBy>
  <cp:revision>30</cp:revision>
  <dcterms:created xsi:type="dcterms:W3CDTF">2006-08-16T00:00:00Z</dcterms:created>
  <dcterms:modified xsi:type="dcterms:W3CDTF">2024-04-22T14:20:13Z</dcterms:modified>
</cp:coreProperties>
</file>